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E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2423160" cy="18010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88920" y="274320"/>
            <a:ext cx="8732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93054"/>
                </a:solidFill>
              </a:defRPr>
            </a:pPr>
            <a:r>
              <a:t>KLH UNIVERSITY</a:t>
            </a:r>
          </a:p>
          <a:p>
            <a:pPr algn="ctr">
              <a:defRPr sz="1700" b="1">
                <a:solidFill>
                  <a:srgbClr val="BE1419"/>
                </a:solidFill>
              </a:defRPr>
            </a:pPr>
            <a:r>
              <a:t>Hyderabad – Bachupally Campus</a:t>
            </a:r>
          </a:p>
          <a:p>
            <a:pPr algn="ctr">
              <a:defRPr sz="1300">
                <a:solidFill>
                  <a:srgbClr val="5F646C"/>
                </a:solidFill>
              </a:defRPr>
            </a:pPr>
            <a:r>
              <a:t>Department of Electronics and Communication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544" y="1508623"/>
            <a:ext cx="10927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93054"/>
                </a:solidFill>
              </a:defRPr>
            </a:pPr>
            <a:r>
              <a:t>Conservative Offline Deep Reinforcement Learning</a:t>
            </a:r>
          </a:p>
          <a:p>
            <a:pPr algn="ctr">
              <a:defRPr sz="2200" b="1">
                <a:solidFill>
                  <a:srgbClr val="193054"/>
                </a:solidFill>
              </a:defRPr>
            </a:pPr>
            <a:r>
              <a:t>for Safe Spectrum Access in Dense IoT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79192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BE1419"/>
                </a:solidFill>
              </a:defRPr>
            </a:pPr>
            <a:r>
              <a:t>PROJECT PROGRESS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37560"/>
            <a:ext cx="5212080" cy="2240280"/>
          </a:xfrm>
          <a:prstGeom prst="roundRect">
            <a:avLst/>
          </a:prstGeom>
          <a:solidFill>
            <a:srgbClr val="F7F8FA"/>
          </a:solidFill>
          <a:ln>
            <a:solidFill>
              <a:srgbClr val="D7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>
              <a:defRPr sz="1200" b="1">
                <a:solidFill>
                  <a:srgbClr val="BE1419"/>
                </a:solidFill>
              </a:defRPr>
            </a:pPr>
            <a:r>
              <a:t>PROJECT GUIDE</a:t>
            </a:r>
          </a:p>
          <a:p>
            <a:pPr algn="ctr">
              <a:defRPr sz="1900" b="1">
                <a:solidFill>
                  <a:srgbClr val="193054"/>
                </a:solidFill>
              </a:defRPr>
            </a:pPr>
            <a:r>
              <a:t>Dr. Vinnakota Venu Balaji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337560"/>
            <a:ext cx="5440680" cy="2240280"/>
          </a:xfrm>
          <a:prstGeom prst="roundRect">
            <a:avLst/>
          </a:prstGeom>
          <a:solidFill>
            <a:srgbClr val="F7F8FA"/>
          </a:solidFill>
          <a:ln>
            <a:solidFill>
              <a:srgbClr val="D7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82880" rtlCol="0" anchor="ctr"/>
          <a:lstStyle/>
          <a:p>
            <a:pPr algn="ctr">
              <a:defRPr sz="1200" b="1">
                <a:solidFill>
                  <a:srgbClr val="BE1419"/>
                </a:solidFill>
              </a:defRPr>
            </a:pPr>
            <a:r>
              <a:t>PROJECT TEAM</a:t>
            </a:r>
          </a:p>
          <a:p>
            <a:pPr algn="l">
              <a:defRPr sz="1500" b="1">
                <a:solidFill>
                  <a:srgbClr val="2D2D2D"/>
                </a:solidFill>
              </a:defRPr>
            </a:pPr>
            <a:r>
              <a:t>Mithilesh Gullapalli</a:t>
            </a:r>
          </a:p>
          <a:p>
            <a:pPr algn="l">
              <a:defRPr sz="1150">
                <a:solidFill>
                  <a:srgbClr val="5F646C"/>
                </a:solidFill>
              </a:defRPr>
            </a:pPr>
            <a:r>
              <a:t>Roll No.: 2520040056</a:t>
            </a:r>
          </a:p>
          <a:p>
            <a:pPr algn="l">
              <a:defRPr sz="1500" b="1">
                <a:solidFill>
                  <a:srgbClr val="2D2D2D"/>
                </a:solidFill>
              </a:defRPr>
            </a:pPr>
            <a:r>
              <a:t>Tejashwer Reddy S</a:t>
            </a:r>
          </a:p>
          <a:p>
            <a:pPr algn="l">
              <a:defRPr sz="1150">
                <a:solidFill>
                  <a:srgbClr val="5F646C"/>
                </a:solidFill>
              </a:defRPr>
            </a:pPr>
            <a:r>
              <a:t>Roll No.: 2520040059</a:t>
            </a:r>
          </a:p>
          <a:p>
            <a:pPr algn="l">
              <a:defRPr sz="1500" b="1">
                <a:solidFill>
                  <a:srgbClr val="2D2D2D"/>
                </a:solidFill>
              </a:defRPr>
            </a:pPr>
            <a:r>
              <a:t>Paidi Sai Chaitanya</a:t>
            </a:r>
          </a:p>
          <a:p>
            <a:pPr algn="l">
              <a:defRPr sz="1150">
                <a:solidFill>
                  <a:srgbClr val="5F646C"/>
                </a:solidFill>
              </a:defRPr>
            </a:pPr>
            <a:r>
              <a:t>Roll No.: 2520049125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F646C"/>
                </a:solidFill>
              </a:defRPr>
            </a:pPr>
            <a:r>
              <a:t>Electronics and Communication Engineering  •  KLH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7"/>
                </a:solidFill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337"/>
                </a:solidFill>
              </a:defRPr>
            </a:pPr>
            <a:r>
              <a:t>• Dense IoT networks have many devices competing for limited wireless spectrum.</a:t>
            </a:r>
          </a:p>
          <a:p>
            <a:pPr>
              <a:spcAft>
                <a:spcPts val="800"/>
              </a:spcAft>
              <a:defRPr sz="1900">
                <a:solidFill>
                  <a:srgbClr val="122337"/>
                </a:solidFill>
              </a:defRPr>
            </a:pPr>
            <a:r>
              <a:t>• Channel congestion and interference can increase packet loss, latency and energy cost.</a:t>
            </a:r>
          </a:p>
          <a:p>
            <a:pPr>
              <a:spcAft>
                <a:spcPts val="800"/>
              </a:spcAft>
              <a:defRPr sz="1900">
                <a:solidFill>
                  <a:srgbClr val="122337"/>
                </a:solidFill>
              </a:defRPr>
            </a:pPr>
            <a:r>
              <a:t>• A live trial-and-error RL agent may explore unsafe spectrum actions.</a:t>
            </a:r>
          </a:p>
          <a:p>
            <a:pPr>
              <a:spcAft>
                <a:spcPts val="800"/>
              </a:spcAft>
              <a:defRPr sz="1900">
                <a:solidFill>
                  <a:srgbClr val="122337"/>
                </a:solidFill>
              </a:defRPr>
            </a:pPr>
            <a:r>
              <a:t>• The project studies offline learning: use historical transmission data to learn a channel-selection policy.</a:t>
            </a:r>
          </a:p>
          <a:p>
            <a:pPr>
              <a:spcAft>
                <a:spcPts val="800"/>
              </a:spcAft>
              <a:defRPr sz="1900">
                <a:solidFill>
                  <a:srgbClr val="122337"/>
                </a:solidFill>
              </a:defRPr>
            </a:pPr>
            <a:r>
              <a:t>• Safety is treated explicitly through interference, collision, packet-loss and latency constraints.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394960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5504688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Core decision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Which channel?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given the current network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5394960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9431" y="5504688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Objective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High reward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performance − risk/cost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5394960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02752" y="5504688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Constraint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Safe access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avoid high-risk channel choices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660654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</a:defRPr>
            </a:pPr>
            <a:r>
              <a:t>KLH University • Bachupally Campus • Department of Electronics &amp; Communication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9739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8305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7"/>
                </a:solidFill>
              </a:defRPr>
            </a:pPr>
            <a:r>
              <a:t>2. Dataset and Feature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1" y="1252728"/>
            <a:ext cx="20482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Records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10,000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uploaded transmission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14300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10712" y="1252728"/>
            <a:ext cx="20482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Features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42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raw dataset columns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14300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16752" y="1252728"/>
            <a:ext cx="20482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Channels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5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433, 470, 868, 915, 923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14300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22792" y="1252728"/>
            <a:ext cx="204825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Missing cells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0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before selected-feature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22337"/>
                </a:solidFill>
              </a:defRPr>
            </a:pPr>
            <a:r>
              <a:t>• State: Channel_Occupancy, Interference_Power, Interference_Density, Packet_Collision_Rate, Packet_Loss_Rate.</a:t>
            </a:r>
          </a:p>
          <a:p>
            <a:pPr>
              <a:spcAft>
                <a:spcPts val="800"/>
              </a:spcAft>
              <a:defRPr sz="1500">
                <a:solidFill>
                  <a:srgbClr val="122337"/>
                </a:solidFill>
              </a:defRPr>
            </a:pPr>
            <a:r>
              <a:t>• State: Latency, RSSI, SNR, Node_Density and Network_Congestion.</a:t>
            </a:r>
          </a:p>
          <a:p>
            <a:pPr>
              <a:spcAft>
                <a:spcPts val="800"/>
              </a:spcAft>
              <a:defRPr sz="1500">
                <a:solidFill>
                  <a:srgbClr val="122337"/>
                </a:solidFill>
              </a:defRPr>
            </a:pPr>
            <a:r>
              <a:t>• Action: Frequency_Channel.</a:t>
            </a:r>
          </a:p>
          <a:p>
            <a:pPr>
              <a:spcAft>
                <a:spcPts val="800"/>
              </a:spcAft>
              <a:defRPr sz="1500">
                <a:solidFill>
                  <a:srgbClr val="122337"/>
                </a:solidFill>
              </a:defRPr>
            </a:pPr>
            <a:r>
              <a:t>• Reward: combines data rate and delivery success, with penalties for interference, packet loss, latency and energy cost.</a:t>
            </a:r>
          </a:p>
          <a:p>
            <a:pPr>
              <a:spcAft>
                <a:spcPts val="800"/>
              </a:spcAft>
              <a:defRPr sz="1500">
                <a:solidFill>
                  <a:srgbClr val="122337"/>
                </a:solidFill>
              </a:defRPr>
            </a:pPr>
            <a:r>
              <a:t>• The dataset is observational; the project therefore reports offline/empirical evaluation rather than live-network causal performance.</a:t>
            </a:r>
          </a:p>
        </p:txBody>
      </p:sp>
      <p:pic>
        <p:nvPicPr>
          <p:cNvPr id="12" name="Picture 11" descr="channe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23160"/>
            <a:ext cx="4114800" cy="24003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660654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</a:defRPr>
            </a:pPr>
            <a:r>
              <a:t>KLH University • Bachupally Campus • Department of Electronics &amp; Communication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9739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8305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7"/>
                </a:solidFill>
              </a:defRPr>
            </a:pPr>
            <a:r>
              <a:t>3. Proposed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463039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1. State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10 network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258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1463039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2. Action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Select one frequency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13258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39" y="1463039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3. Reward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Performance −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3611879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4. Offline Q-learning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Learn from recorded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4747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3611879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5. Conservative term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Penalize unsupported optimism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34747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39" y="3611879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6. Safety filter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Reject high-risk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Q-network output: one Q-value per available channel.</a:t>
            </a:r>
          </a:p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Policy chooses the highest-valued action that passes the historical safety filter.</a:t>
            </a:r>
          </a:p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Implementation is a CQL-style one-step offline Q-learning prototype for the progress stage.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660654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</a:defRPr>
            </a:pPr>
            <a:r>
              <a:t>KLH University • Bachupally Campus • Department of Electronics &amp; Communication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9739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8305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7"/>
                </a:solidFill>
              </a:defRPr>
            </a:pPr>
            <a:r>
              <a:t>4. Project Workflow / 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2176272"/>
            <a:ext cx="1600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337"/>
                </a:solidFill>
              </a:defRPr>
            </a:pPr>
            <a:r>
              <a:t>Transmission</a:t>
            </a:r>
            <a:br/>
            <a:r>
              <a:t>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01168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52928" y="2176272"/>
            <a:ext cx="1600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337"/>
                </a:solidFill>
              </a:defRPr>
            </a:pPr>
            <a:r>
              <a:t>Preprocess &amp;</a:t>
            </a:r>
            <a:br/>
            <a:r>
              <a:t>Normalize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01168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56048" y="2176272"/>
            <a:ext cx="1600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337"/>
                </a:solidFill>
              </a:defRPr>
            </a:pPr>
            <a:r>
              <a:t>State–Action–</a:t>
            </a:r>
            <a:br/>
            <a:r>
              <a:t>Reward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01168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59168" y="2176272"/>
            <a:ext cx="1600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337"/>
                </a:solidFill>
              </a:defRPr>
            </a:pPr>
            <a:r>
              <a:t>Conservative</a:t>
            </a:r>
            <a:br/>
            <a:r>
              <a:t>Q 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201168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62288" y="2176272"/>
            <a:ext cx="1600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337"/>
                </a:solidFill>
              </a:defRPr>
            </a:pPr>
            <a:r>
              <a:t>Safety</a:t>
            </a:r>
            <a:br/>
            <a:r>
              <a:t>Filter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3881628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00387" y="4120439"/>
            <a:ext cx="11327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337"/>
                </a:solidFill>
              </a:defRPr>
            </a:pPr>
            <a:r>
              <a:rPr dirty="0"/>
              <a:t>Evaluation &amp;</a:t>
            </a:r>
            <a:br>
              <a:rPr dirty="0"/>
            </a:br>
            <a:r>
              <a:rPr dirty="0"/>
              <a:t>Plots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68880" y="2542032"/>
            <a:ext cx="32004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4572000" y="2542032"/>
            <a:ext cx="32004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6675120" y="2542032"/>
            <a:ext cx="32004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8778240" y="2542032"/>
            <a:ext cx="32004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8001000" y="3246120"/>
            <a:ext cx="320040" cy="59436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Environment is represented through recorded transmission states rather than live RF experimentation.</a:t>
            </a:r>
          </a:p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Training uses only the offline dataset; test records remain held out for evaluation.</a:t>
            </a:r>
          </a:p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Outputs include channel decisions, reward, risk and safety status.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4712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660654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</a:defRPr>
            </a:pPr>
            <a:r>
              <a:t>KLH University • Bachupally Campus • Department of Electronics &amp; Communication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9739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8305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7"/>
                </a:solidFill>
              </a:defRPr>
            </a:pPr>
            <a:r>
              <a:t>5. Preliminary Experimental Results — Dataset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Computed directly from the uploaded dataset</a:t>
            </a:r>
          </a:p>
        </p:txBody>
      </p:sp>
      <p:pic>
        <p:nvPicPr>
          <p:cNvPr id="4" name="Picture 3" descr="channe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577840" cy="3253740"/>
          </a:xfrm>
          <a:prstGeom prst="rect">
            <a:avLst/>
          </a:prstGeom>
        </p:spPr>
      </p:pic>
      <p:pic>
        <p:nvPicPr>
          <p:cNvPr id="5" name="Picture 4" descr="risk_by_ch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212080" cy="3040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749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Observed channels: 433, 470, 868, 915, 923.</a:t>
            </a:r>
          </a:p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Lowest historical mean risk channel in this analysis: 470 (risk score 1.697).</a:t>
            </a:r>
          </a:p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Highest mean reward channel in the empirical analysis: 923 (reward 0.219).</a:t>
            </a:r>
          </a:p>
          <a:p>
            <a:pPr>
              <a:spcAft>
                <a:spcPts val="800"/>
              </a:spcAft>
              <a:defRPr sz="1200">
                <a:solidFill>
                  <a:srgbClr val="122337"/>
                </a:solidFill>
              </a:defRPr>
            </a:pPr>
            <a:r>
              <a:t>• Risk score is a project-defined normalized screening metric, not a standardized RF safety metric.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60654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</a:defRPr>
            </a:pPr>
            <a:r>
              <a:t>KLH University • Bachupally Campus • Department of Electronics &amp; Communication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9739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8305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7"/>
                </a:solidFill>
              </a:defRPr>
            </a:pPr>
            <a:r>
              <a:t>6. Preliminary Offline Policy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One-step empirical offline evaluation; values are estimated from historical channel rewards</a:t>
            </a:r>
          </a:p>
        </p:txBody>
      </p:sp>
      <p:pic>
        <p:nvPicPr>
          <p:cNvPr id="4" name="Picture 3" descr="rewar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492240" cy="37871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325880"/>
            <a:ext cx="3749039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62671" y="1435607"/>
            <a:ext cx="1309974" cy="7540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rPr dirty="0"/>
              <a:t>Random policy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rPr dirty="0" smtClean="0"/>
              <a:t>0.21</a:t>
            </a:r>
            <a:r>
              <a:rPr lang="en-US" dirty="0" smtClean="0"/>
              <a:t>76</a:t>
            </a:r>
            <a:endParaRPr dirty="0"/>
          </a:p>
          <a:p>
            <a:pPr>
              <a:defRPr sz="900">
                <a:solidFill>
                  <a:srgbClr val="475569"/>
                </a:solidFill>
              </a:defRPr>
            </a:pPr>
            <a:r>
              <a:rPr dirty="0"/>
              <a:t>estimated mean reward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606040"/>
            <a:ext cx="3749039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62671" y="2715768"/>
            <a:ext cx="1192058" cy="7540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rPr dirty="0"/>
              <a:t>Empirical policy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rPr dirty="0" smtClean="0"/>
              <a:t>0.21</a:t>
            </a:r>
            <a:r>
              <a:rPr lang="en-US" dirty="0" smtClean="0"/>
              <a:t>75</a:t>
            </a:r>
            <a:endParaRPr dirty="0"/>
          </a:p>
          <a:p>
            <a:pPr>
              <a:defRPr sz="900">
                <a:solidFill>
                  <a:srgbClr val="475569"/>
                </a:solidFill>
              </a:defRPr>
            </a:pPr>
            <a:r>
              <a:rPr dirty="0"/>
              <a:t>channel 923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886200"/>
            <a:ext cx="3749039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62671" y="3995928"/>
            <a:ext cx="1497911" cy="7540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rPr dirty="0"/>
              <a:t>Safe empirical policy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rPr lang="en-US" dirty="0" smtClean="0"/>
              <a:t>0.2181</a:t>
            </a:r>
            <a:endParaRPr dirty="0"/>
          </a:p>
          <a:p>
            <a:pPr>
              <a:defRPr sz="900">
                <a:solidFill>
                  <a:srgbClr val="475569"/>
                </a:solidFill>
              </a:defRPr>
            </a:pPr>
            <a:r>
              <a:rPr dirty="0"/>
              <a:t>channel 923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22337"/>
                </a:solidFill>
              </a:defRPr>
            </a:pPr>
            <a:r>
              <a:rPr dirty="0"/>
              <a:t>• These results establish a baseline for the offline decision problem.</a:t>
            </a:r>
          </a:p>
          <a:p>
            <a:pPr>
              <a:spcAft>
                <a:spcPts val="800"/>
              </a:spcAft>
              <a:defRPr sz="1100">
                <a:solidFill>
                  <a:srgbClr val="122337"/>
                </a:solidFill>
              </a:defRPr>
            </a:pPr>
            <a:r>
              <a:rPr dirty="0"/>
              <a:t>• They are not live-network measurements and do not establish causal improvement.</a:t>
            </a:r>
          </a:p>
          <a:p>
            <a:pPr>
              <a:spcAft>
                <a:spcPts val="800"/>
              </a:spcAft>
              <a:defRPr sz="1100">
                <a:solidFill>
                  <a:srgbClr val="122337"/>
                </a:solidFill>
              </a:defRPr>
            </a:pPr>
            <a:r>
              <a:rPr dirty="0"/>
              <a:t>• The next validation step is to compare the trained conservative Q policy against these baselines on the held-out test set.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4712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660654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</a:defRPr>
            </a:pPr>
            <a:r>
              <a:t>KLH University • Bachupally Campus • Department of Electronics &amp; Communication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9739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8305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7"/>
                </a:solidFill>
              </a:defRPr>
            </a:pPr>
            <a:r>
              <a:t>7. Current Progress and Remaining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0" y="123444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66534"/>
                </a:solidFill>
              </a:defRPr>
            </a:pPr>
            <a:r>
              <a:t>• Dataset loaded and inspected</a:t>
            </a:r>
          </a:p>
          <a:p>
            <a:pPr>
              <a:spcAft>
                <a:spcPts val="800"/>
              </a:spcAft>
              <a:defRPr sz="1600">
                <a:solidFill>
                  <a:srgbClr val="166534"/>
                </a:solidFill>
              </a:defRPr>
            </a:pPr>
            <a:r>
              <a:t>• Relevant state features selected</a:t>
            </a:r>
          </a:p>
          <a:p>
            <a:pPr>
              <a:spcAft>
                <a:spcPts val="800"/>
              </a:spcAft>
              <a:defRPr sz="1600">
                <a:solidFill>
                  <a:srgbClr val="166534"/>
                </a:solidFill>
              </a:defRPr>
            </a:pPr>
            <a:r>
              <a:t>• Frequency channels mapped to discrete actions</a:t>
            </a:r>
          </a:p>
          <a:p>
            <a:pPr>
              <a:spcAft>
                <a:spcPts val="800"/>
              </a:spcAft>
              <a:defRPr sz="1600">
                <a:solidFill>
                  <a:srgbClr val="166534"/>
                </a:solidFill>
              </a:defRPr>
            </a:pPr>
            <a:r>
              <a:t>• Reward function defined</a:t>
            </a:r>
          </a:p>
          <a:p>
            <a:pPr>
              <a:spcAft>
                <a:spcPts val="800"/>
              </a:spcAft>
              <a:defRPr sz="1600">
                <a:solidFill>
                  <a:srgbClr val="166534"/>
                </a:solidFill>
              </a:defRPr>
            </a:pPr>
            <a:r>
              <a:t>• Offline baseline evaluation completed</a:t>
            </a:r>
          </a:p>
          <a:p>
            <a:pPr>
              <a:spcAft>
                <a:spcPts val="800"/>
              </a:spcAft>
              <a:defRPr sz="1600">
                <a:solidFill>
                  <a:srgbClr val="166534"/>
                </a:solidFill>
              </a:defRPr>
            </a:pPr>
            <a:r>
              <a:t>• Safety risk score and historical screening implemented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6534"/>
                </a:solidFill>
              </a:defRPr>
            </a:pPr>
            <a:r>
              <a:t>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0020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2337"/>
                </a:solidFill>
              </a:defRPr>
            </a:pPr>
            <a:r>
              <a:t>• Run full conservative Q-network training on the cleaned dataset</a:t>
            </a:r>
          </a:p>
          <a:p>
            <a:pPr>
              <a:spcAft>
                <a:spcPts val="800"/>
              </a:spcAft>
              <a:defRPr sz="1600">
                <a:solidFill>
                  <a:srgbClr val="122337"/>
                </a:solidFill>
              </a:defRPr>
            </a:pPr>
            <a:r>
              <a:t>• Evaluate the learned policy on held-out records</a:t>
            </a:r>
          </a:p>
          <a:p>
            <a:pPr>
              <a:spcAft>
                <a:spcPts val="800"/>
              </a:spcAft>
              <a:defRPr sz="1600">
                <a:solidFill>
                  <a:srgbClr val="122337"/>
                </a:solidFill>
              </a:defRPr>
            </a:pPr>
            <a:r>
              <a:t>• Add ablation/sensitivity analysis for the conservative coefficient</a:t>
            </a:r>
          </a:p>
          <a:p>
            <a:pPr>
              <a:spcAft>
                <a:spcPts val="800"/>
              </a:spcAft>
              <a:defRPr sz="1600">
                <a:solidFill>
                  <a:srgbClr val="122337"/>
                </a:solidFill>
              </a:defRPr>
            </a:pPr>
            <a:r>
              <a:t>• Generate final throughput, packet-loss, latency and safety-violation plots</a:t>
            </a:r>
          </a:p>
          <a:p>
            <a:pPr>
              <a:spcAft>
                <a:spcPts val="800"/>
              </a:spcAft>
              <a:defRPr sz="1600">
                <a:solidFill>
                  <a:srgbClr val="122337"/>
                </a:solidFill>
              </a:defRPr>
            </a:pPr>
            <a:r>
              <a:t>• Package source code, dataset description and run instructions in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38988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REMAINING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660654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</a:defRPr>
            </a:pPr>
            <a:r>
              <a:t>KLH University • Bachupally Campus • Department of Electronics &amp; Communication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9739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8305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7"/>
                </a:solidFill>
              </a:defRPr>
            </a:pPr>
            <a:r>
              <a:t>8. Project Repository and Next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22337"/>
                </a:solidFill>
              </a:defRPr>
            </a:pPr>
            <a:r>
              <a:t>• GitHub repository structure:</a:t>
            </a:r>
          </a:p>
          <a:p>
            <a:pPr>
              <a:spcAft>
                <a:spcPts val="800"/>
              </a:spcAft>
              <a:defRPr sz="1500">
                <a:solidFill>
                  <a:srgbClr val="122337"/>
                </a:solidFill>
              </a:defRPr>
            </a:pPr>
            <a:r>
              <a:t>•   • README.md — problem, methodology, setup and results</a:t>
            </a:r>
          </a:p>
          <a:p>
            <a:pPr>
              <a:spcAft>
                <a:spcPts val="800"/>
              </a:spcAft>
              <a:defRPr sz="1500">
                <a:solidFill>
                  <a:srgbClr val="122337"/>
                </a:solidFill>
              </a:defRPr>
            </a:pPr>
            <a:r>
              <a:t>•   • data/ — dataset details and source information (do not commit restricted/raw data if licensing prohibits it)</a:t>
            </a:r>
          </a:p>
          <a:p>
            <a:pPr>
              <a:spcAft>
                <a:spcPts val="800"/>
              </a:spcAft>
              <a:defRPr sz="1500">
                <a:solidFill>
                  <a:srgbClr val="122337"/>
                </a:solidFill>
              </a:defRPr>
            </a:pPr>
            <a:r>
              <a:t>•   • src/ — preprocessing, reward, model, safety filter and evaluation code</a:t>
            </a:r>
          </a:p>
          <a:p>
            <a:pPr>
              <a:spcAft>
                <a:spcPts val="800"/>
              </a:spcAft>
              <a:defRPr sz="1500">
                <a:solidFill>
                  <a:srgbClr val="122337"/>
                </a:solidFill>
              </a:defRPr>
            </a:pPr>
            <a:r>
              <a:t>•   • results/ — figures and metric tables</a:t>
            </a:r>
          </a:p>
          <a:p>
            <a:pPr>
              <a:spcAft>
                <a:spcPts val="800"/>
              </a:spcAft>
              <a:defRPr sz="1500">
                <a:solidFill>
                  <a:srgbClr val="122337"/>
                </a:solidFill>
              </a:defRPr>
            </a:pPr>
            <a:r>
              <a:t>•   • requirements.txt — Python dependencies</a:t>
            </a:r>
          </a:p>
          <a:p>
            <a:pPr>
              <a:spcAft>
                <a:spcPts val="800"/>
              </a:spcAft>
              <a:defRPr sz="1500">
                <a:solidFill>
                  <a:srgbClr val="122337"/>
                </a:solidFill>
              </a:defRPr>
            </a:pPr>
            <a:r>
              <a:t>•   • presentation/ — progress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141732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2337"/>
                </a:solidFill>
              </a:defRPr>
            </a:pPr>
            <a:r>
              <a:t>• Current evidence: 10,000-record transmission dataset successfully mapped to the spectrum-access problem.</a:t>
            </a:r>
          </a:p>
          <a:p>
            <a:pPr>
              <a:spcAft>
                <a:spcPts val="800"/>
              </a:spcAft>
              <a:defRPr sz="1600">
                <a:solidFill>
                  <a:srgbClr val="122337"/>
                </a:solidFill>
              </a:defRPr>
            </a:pPr>
            <a:r>
              <a:t>• The project now has a defined state, action, reward and safety formulation.</a:t>
            </a:r>
          </a:p>
          <a:p>
            <a:pPr>
              <a:spcAft>
                <a:spcPts val="800"/>
              </a:spcAft>
              <a:defRPr sz="1600">
                <a:solidFill>
                  <a:srgbClr val="122337"/>
                </a:solidFill>
              </a:defRPr>
            </a:pPr>
            <a:r>
              <a:t>• Next milestone: complete held-out conservative-policy evaluation and finalize the reproducible GitHub package.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4709160"/>
            <a:ext cx="4572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56831" y="4818888"/>
            <a:ext cx="424281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Presentation focus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Progress + measurable evidence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No abstract; 8 slides total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2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60654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</a:defRPr>
            </a:pPr>
            <a:r>
              <a:t>KLH University • Bachupally Campus • Department of Electronics &amp; Communication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9739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18305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910</Words>
  <Application>Microsoft Office PowerPoint</Application>
  <PresentationFormat>Widescreen</PresentationFormat>
  <Paragraphs>147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Paidi Sai Chaitanya</dc:creator>
  <cp:keywords/>
  <dc:description>generated using python-pptx</dc:description>
  <cp:lastModifiedBy>DELL</cp:lastModifiedBy>
  <cp:revision>8</cp:revision>
  <dcterms:created xsi:type="dcterms:W3CDTF">2013-01-27T09:14:16Z</dcterms:created>
  <dcterms:modified xsi:type="dcterms:W3CDTF">2026-10-06T08:32:25Z</dcterms:modified>
  <cp:category/>
</cp:coreProperties>
</file>